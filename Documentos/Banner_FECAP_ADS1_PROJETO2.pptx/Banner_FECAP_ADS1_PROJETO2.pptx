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8800425" cy="43200638"/>
  <p:notesSz cx="6858000" cy="9144000"/>
  <p:embeddedFontLst>
    <p:embeddedFont>
      <p:font typeface="Open Sans" panose="020B0606030504020204" pitchFamily="34" charset="0"/>
      <p:regular r:id="rId4"/>
      <p:bold r:id="rId5"/>
      <p:boldItalic r:id="rId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" roundtripDataSignature="AMtx7mi+9yr4mDS8zg5+kfXTqvtBuST6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45" autoAdjust="0"/>
    <p:restoredTop sz="94660"/>
  </p:normalViewPr>
  <p:slideViewPr>
    <p:cSldViewPr snapToGrid="0">
      <p:cViewPr>
        <p:scale>
          <a:sx n="25" d="100"/>
          <a:sy n="25" d="100"/>
        </p:scale>
        <p:origin x="1872" y="-101"/>
      </p:cViewPr>
      <p:guideLst>
        <p:guide orient="horz" pos="4366"/>
        <p:guide pos="54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customschemas.google.com/relationships/presentationmetadata" Target="metadata"/><Relationship Id="rId3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5" Type="http://schemas.openxmlformats.org/officeDocument/2006/relationships/viewProps" Target="viewProps.xml"/><Relationship Id="rId4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sz="7623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615823" algn="l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marL="914400" lvl="1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marL="1371600" lvl="2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marL="1828800" lvl="3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marL="2286000" lvl="4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marL="2743200" lvl="5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marL="3200400" lvl="6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marL="3657600" lvl="7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marL="4114800" lvl="8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sz="838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615823" algn="l" rtl="0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sz="60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67436" algn="l" rtl="0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sz="53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519049" algn="l" rtl="0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sz="45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70599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4F3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34721" y="36273035"/>
            <a:ext cx="29324843" cy="6968084"/>
            <a:chOff x="0" y="-47625"/>
            <a:chExt cx="3032124" cy="65520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3032124" cy="607578"/>
            </a:xfrm>
            <a:custGeom>
              <a:avLst/>
              <a:gdLst/>
              <a:ahLst/>
              <a:cxnLst/>
              <a:rect l="l" t="t" r="r" b="b"/>
              <a:pathLst>
                <a:path w="3032124" h="607578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3163237" y="34829695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-234720" y="28800364"/>
            <a:ext cx="29304069" cy="9759747"/>
            <a:chOff x="0" y="-47625"/>
            <a:chExt cx="3163653" cy="917701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3163653" cy="870076"/>
            </a:xfrm>
            <a:custGeom>
              <a:avLst/>
              <a:gdLst/>
              <a:ahLst/>
              <a:cxnLst/>
              <a:rect l="l" t="t" r="r" b="b"/>
              <a:pathLst>
                <a:path w="3163653" h="870076" extrusionOk="0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l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-234719" y="21010291"/>
            <a:ext cx="29324842" cy="9460531"/>
            <a:chOff x="0" y="-47625"/>
            <a:chExt cx="3225442" cy="889566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3225442" cy="841941"/>
            </a:xfrm>
            <a:custGeom>
              <a:avLst/>
              <a:gdLst/>
              <a:ahLst/>
              <a:cxnLst/>
              <a:rect l="l" t="t" r="r" b="b"/>
              <a:pathLst>
                <a:path w="3225442" h="841941" extrusionOk="0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-234720" y="15561373"/>
            <a:ext cx="29304069" cy="8372962"/>
            <a:chOff x="0" y="-47625"/>
            <a:chExt cx="3032124" cy="787302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3032124" cy="739677"/>
            </a:xfrm>
            <a:custGeom>
              <a:avLst/>
              <a:gdLst/>
              <a:ahLst/>
              <a:cxnLst/>
              <a:rect l="l" t="t" r="r" b="b"/>
              <a:pathLst>
                <a:path w="3032124" h="739677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-234719" y="6816147"/>
            <a:ext cx="29304069" cy="9226118"/>
            <a:chOff x="0" y="-47625"/>
            <a:chExt cx="3218728" cy="867524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3218728" cy="819899"/>
            </a:xfrm>
            <a:custGeom>
              <a:avLst/>
              <a:gdLst/>
              <a:ahLst/>
              <a:cxnLst/>
              <a:rect l="l" t="t" r="r" b="b"/>
              <a:pathLst>
                <a:path w="3218728" h="819899" extrusionOk="0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2755436" cy="803341"/>
            </a:xfrm>
            <a:custGeom>
              <a:avLst/>
              <a:gdLst/>
              <a:ahLst/>
              <a:cxnLst/>
              <a:rect l="l" t="t" r="r" b="b"/>
              <a:pathLst>
                <a:path w="2755436" h="803341" extrusionOk="0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 rot="-5400000">
            <a:off x="11084396" y="13184457"/>
            <a:ext cx="20464104" cy="13034120"/>
            <a:chOff x="0" y="-47625"/>
            <a:chExt cx="1922704" cy="1224620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922704" cy="1176995"/>
            </a:xfrm>
            <a:custGeom>
              <a:avLst/>
              <a:gdLst/>
              <a:ahLst/>
              <a:cxnLst/>
              <a:rect l="l" t="t" r="r" b="b"/>
              <a:pathLst>
                <a:path w="1922704" h="1176995" extrusionOk="0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27180" y="30011217"/>
            <a:ext cx="13848538" cy="9234980"/>
            <a:chOff x="0" y="-47625"/>
            <a:chExt cx="1302166" cy="868357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302166" cy="820732"/>
            </a:xfrm>
            <a:custGeom>
              <a:avLst/>
              <a:gdLst/>
              <a:ahLst/>
              <a:cxnLst/>
              <a:rect l="l" t="t" r="r" b="b"/>
              <a:pathLst>
                <a:path w="1302166" h="820732" extrusionOk="0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15403306" y="30138544"/>
            <a:ext cx="12527228" cy="8125799"/>
            <a:chOff x="0" y="-314078"/>
            <a:chExt cx="8764870" cy="5685342"/>
          </a:xfrm>
        </p:grpSpPr>
        <p:grpSp>
          <p:nvGrpSpPr>
            <p:cNvPr id="110" name="Google Shape;110;p1"/>
            <p:cNvGrpSpPr/>
            <p:nvPr/>
          </p:nvGrpSpPr>
          <p:grpSpPr>
            <a:xfrm>
              <a:off x="0" y="-314078"/>
              <a:ext cx="8764870" cy="5685342"/>
              <a:chOff x="0" y="-47625"/>
              <a:chExt cx="1329056" cy="862094"/>
            </a:xfrm>
          </p:grpSpPr>
          <p:sp>
            <p:nvSpPr>
              <p:cNvPr id="111" name="Google Shape;111;p1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avLst/>
                <a:gdLst/>
                <a:ahLst/>
                <a:cxnLst/>
                <a:rect l="l" t="t" r="r" b="b"/>
                <a:pathLst>
                  <a:path w="1329056" h="814469" extrusionOk="0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 cmpd="sng">
                <a:solidFill>
                  <a:srgbClr val="000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769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6800" tIns="96800" rIns="96800" bIns="96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769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"/>
            <p:cNvSpPr txBox="1"/>
            <p:nvPr/>
          </p:nvSpPr>
          <p:spPr>
            <a:xfrm>
              <a:off x="1064599" y="235141"/>
              <a:ext cx="6635674" cy="4333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62" b="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REFERÊNCIAS</a:t>
              </a:r>
              <a:endParaRPr/>
            </a:p>
          </p:txBody>
        </p:sp>
      </p:grpSp>
      <p:sp>
        <p:nvSpPr>
          <p:cNvPr id="114" name="Google Shape;114;p1"/>
          <p:cNvSpPr/>
          <p:nvPr/>
        </p:nvSpPr>
        <p:spPr>
          <a:xfrm>
            <a:off x="-916543" y="1525353"/>
            <a:ext cx="8571184" cy="2454222"/>
          </a:xfrm>
          <a:custGeom>
            <a:avLst/>
            <a:gdLst/>
            <a:ahLst/>
            <a:cxnLst/>
            <a:rect l="l" t="t" r="r" b="b"/>
            <a:pathLst>
              <a:path w="4497722" h="1287851" extrusionOk="0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3163237" y="-4997460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21014306" y="1712017"/>
            <a:ext cx="7228385" cy="2335060"/>
          </a:xfrm>
          <a:custGeom>
            <a:avLst/>
            <a:gdLst/>
            <a:ahLst/>
            <a:cxnLst/>
            <a:rect l="l" t="t" r="r" b="b"/>
            <a:pathLst>
              <a:path w="3793089" h="1225321" extrusionOk="0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77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/>
          </a:p>
        </p:txBody>
      </p:sp>
      <p:grpSp>
        <p:nvGrpSpPr>
          <p:cNvPr id="119" name="Google Shape;119;p1"/>
          <p:cNvGrpSpPr/>
          <p:nvPr/>
        </p:nvGrpSpPr>
        <p:grpSpPr>
          <a:xfrm rot="-5400000">
            <a:off x="2494601" y="7477176"/>
            <a:ext cx="10206805" cy="14355430"/>
            <a:chOff x="0" y="-47625"/>
            <a:chExt cx="958980" cy="1348764"/>
          </a:xfrm>
        </p:grpSpPr>
        <p:sp>
          <p:nvSpPr>
            <p:cNvPr id="120" name="Google Shape;120;p1"/>
            <p:cNvSpPr/>
            <p:nvPr/>
          </p:nvSpPr>
          <p:spPr>
            <a:xfrm>
              <a:off x="0" y="0"/>
              <a:ext cx="958980" cy="1301139"/>
            </a:xfrm>
            <a:custGeom>
              <a:avLst/>
              <a:gdLst/>
              <a:ahLst/>
              <a:cxnLst/>
              <a:rect l="l" t="t" r="r" b="b"/>
              <a:pathLst>
                <a:path w="958980" h="1301139" extrusionOk="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1"/>
          <p:cNvGrpSpPr/>
          <p:nvPr/>
        </p:nvGrpSpPr>
        <p:grpSpPr>
          <a:xfrm rot="-5400000">
            <a:off x="2616002" y="17805386"/>
            <a:ext cx="9963998" cy="14355430"/>
            <a:chOff x="0" y="-47625"/>
            <a:chExt cx="936167" cy="1348764"/>
          </a:xfrm>
        </p:grpSpPr>
        <p:sp>
          <p:nvSpPr>
            <p:cNvPr id="123" name="Google Shape;123;p1"/>
            <p:cNvSpPr/>
            <p:nvPr/>
          </p:nvSpPr>
          <p:spPr>
            <a:xfrm>
              <a:off x="0" y="0"/>
              <a:ext cx="936167" cy="1301139"/>
            </a:xfrm>
            <a:custGeom>
              <a:avLst/>
              <a:gdLst/>
              <a:ahLst/>
              <a:cxnLst/>
              <a:rect l="l" t="t" r="r" b="b"/>
              <a:pathLst>
                <a:path w="936167" h="1301139" extrusionOk="0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/>
          <p:nvPr/>
        </p:nvSpPr>
        <p:spPr>
          <a:xfrm>
            <a:off x="22527251" y="36801439"/>
            <a:ext cx="5609093" cy="5642282"/>
          </a:xfrm>
          <a:custGeom>
            <a:avLst/>
            <a:gdLst/>
            <a:ahLst/>
            <a:cxnLst/>
            <a:rect l="l" t="t" r="r" b="b"/>
            <a:pathLst>
              <a:path w="2943367" h="2960783" extrusionOk="0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-1" y="4700167"/>
            <a:ext cx="28813765" cy="177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34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App desktop para </a:t>
            </a:r>
            <a:r>
              <a:rPr lang="en-US" sz="11434" b="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jogos</a:t>
            </a:r>
            <a:r>
              <a:rPr lang="en-US" sz="11434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1434" b="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educacionais</a:t>
            </a:r>
            <a:endParaRPr dirty="0"/>
          </a:p>
        </p:txBody>
      </p:sp>
      <p:sp>
        <p:nvSpPr>
          <p:cNvPr id="127" name="Google Shape;127;p1"/>
          <p:cNvSpPr txBox="1"/>
          <p:nvPr/>
        </p:nvSpPr>
        <p:spPr>
          <a:xfrm>
            <a:off x="136933" y="6355587"/>
            <a:ext cx="27793601" cy="2051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Andr</a:t>
            </a:r>
            <a:r>
              <a:rPr lang="en-US" sz="4762" b="1" dirty="0">
                <a:latin typeface="Open Sans"/>
                <a:ea typeface="Open Sans"/>
                <a:cs typeface="Open Sans"/>
                <a:sym typeface="Open Sans"/>
              </a:rPr>
              <a:t>é Seiji Shiroma</a:t>
            </a: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Marcos Almeida </a:t>
            </a:r>
            <a:r>
              <a:rPr lang="en-US" sz="4762" b="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Daloia</a:t>
            </a: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Fabio Augusto Camillo Rodrigues</a:t>
            </a:r>
            <a:r>
              <a:rPr lang="en-US" sz="4762" b="1" dirty="0"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  <a:p>
            <a:pPr marL="0" marR="0" lvl="0" indent="0" algn="ct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Orientadores</a:t>
            </a: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Lucy Mari, Ronaldo Araujo, Renata Muniz, Aimar Martins, Eduardo Savino</a:t>
            </a:r>
            <a:endParaRPr dirty="0"/>
          </a:p>
        </p:txBody>
      </p:sp>
      <p:sp>
        <p:nvSpPr>
          <p:cNvPr id="130" name="Google Shape;130;p1"/>
          <p:cNvSpPr txBox="1"/>
          <p:nvPr/>
        </p:nvSpPr>
        <p:spPr>
          <a:xfrm>
            <a:off x="2561448" y="30828367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TECNOLOGIAS UTILIZADAS</a:t>
            </a:r>
            <a:endParaRPr/>
          </a:p>
        </p:txBody>
      </p:sp>
      <p:sp>
        <p:nvSpPr>
          <p:cNvPr id="131" name="Google Shape;131;p1"/>
          <p:cNvSpPr txBox="1"/>
          <p:nvPr/>
        </p:nvSpPr>
        <p:spPr>
          <a:xfrm>
            <a:off x="16608355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RESULTADOS</a:t>
            </a:r>
            <a:endParaRPr/>
          </a:p>
        </p:txBody>
      </p:sp>
      <p:sp>
        <p:nvSpPr>
          <p:cNvPr id="132" name="Google Shape;132;p1"/>
          <p:cNvSpPr txBox="1"/>
          <p:nvPr/>
        </p:nvSpPr>
        <p:spPr>
          <a:xfrm>
            <a:off x="2644303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PROBLEMA</a:t>
            </a:r>
            <a:endParaRPr/>
          </a:p>
        </p:txBody>
      </p:sp>
      <p:sp>
        <p:nvSpPr>
          <p:cNvPr id="133" name="Google Shape;133;p1"/>
          <p:cNvSpPr txBox="1"/>
          <p:nvPr/>
        </p:nvSpPr>
        <p:spPr>
          <a:xfrm>
            <a:off x="2758254" y="20302839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PROPOSTA</a:t>
            </a:r>
            <a:endParaRPr/>
          </a:p>
        </p:txBody>
      </p:sp>
      <p:sp>
        <p:nvSpPr>
          <p:cNvPr id="134" name="Google Shape;134;p1"/>
          <p:cNvSpPr txBox="1"/>
          <p:nvPr/>
        </p:nvSpPr>
        <p:spPr>
          <a:xfrm>
            <a:off x="15966975" y="31719851"/>
            <a:ext cx="11400000" cy="620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40000"/>
              </a:lnSpc>
            </a:pPr>
            <a:r>
              <a:rPr lang="pt-BR" sz="3600" dirty="0"/>
              <a:t>VALENTE, Marco Tulio. Engenharia de software moderna: princípios e práticas para desenvolvimento de software com produtividade. Belo Horizonte: Marco Tulio Valente, 2020. </a:t>
            </a:r>
            <a:r>
              <a:rPr lang="pt-BR" sz="3600" dirty="0" err="1"/>
              <a:t>iv</a:t>
            </a:r>
            <a:r>
              <a:rPr lang="pt-BR" sz="3600" dirty="0"/>
              <a:t>, 395 p. ISBN 9786500019506</a:t>
            </a:r>
          </a:p>
          <a:p>
            <a:pPr lvl="0" algn="just">
              <a:lnSpc>
                <a:spcPct val="140000"/>
              </a:lnSpc>
            </a:pPr>
            <a:endParaRPr lang="pt-BR" sz="36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lvl="0" algn="just">
              <a:lnSpc>
                <a:spcPct val="140000"/>
              </a:lnSpc>
            </a:pPr>
            <a:r>
              <a:rPr lang="pt-BR" sz="3600" dirty="0"/>
              <a:t>SOMMERVILLE, Ian. Engenharia de software. 10. ed. São Paulo: Pearson, 2018. xi, 756 p. ISBN 9788543024974</a:t>
            </a:r>
            <a:endParaRPr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" name="Google Shape;135;p1"/>
          <p:cNvSpPr txBox="1"/>
          <p:nvPr/>
        </p:nvSpPr>
        <p:spPr>
          <a:xfrm>
            <a:off x="1595875" y="31719850"/>
            <a:ext cx="12562800" cy="7389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430" b="1" dirty="0" err="1">
                <a:latin typeface="Open Sans"/>
                <a:ea typeface="Open Sans"/>
                <a:cs typeface="Open Sans"/>
                <a:sym typeface="Open Sans"/>
              </a:rPr>
              <a:t>Linguagem</a:t>
            </a:r>
            <a:r>
              <a:rPr lang="en-US" sz="3430" b="1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30" b="1" dirty="0" err="1">
                <a:latin typeface="Open Sans"/>
                <a:ea typeface="Open Sans"/>
                <a:cs typeface="Open Sans"/>
                <a:sym typeface="Open Sans"/>
              </a:rPr>
              <a:t>Programação</a:t>
            </a:r>
            <a:r>
              <a:rPr lang="en-US" sz="3430" b="1" dirty="0"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C# (.NET) .</a:t>
            </a:r>
          </a:p>
          <a:p>
            <a:pPr marL="285750" marR="0" lvl="0" indent="-285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430" b="1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b="1" dirty="0" err="1">
                <a:latin typeface="Open Sans"/>
                <a:ea typeface="Open Sans"/>
                <a:cs typeface="Open Sans"/>
                <a:sym typeface="Open Sans"/>
              </a:rPr>
              <a:t>Gráfica</a:t>
            </a:r>
            <a:r>
              <a:rPr lang="en-US" sz="3430" b="1" dirty="0"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WinForms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ou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WPF para 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criação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da interface desktop.</a:t>
            </a:r>
          </a:p>
          <a:p>
            <a:pPr marL="285750" marR="0" lvl="0" indent="-285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430" b="1" dirty="0">
                <a:latin typeface="Open Sans"/>
                <a:ea typeface="Open Sans"/>
                <a:cs typeface="Open Sans"/>
                <a:sym typeface="Open Sans"/>
              </a:rPr>
              <a:t>Banco de Dados: 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SQLite para 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persistência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local 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segura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dos dados.</a:t>
            </a:r>
          </a:p>
          <a:p>
            <a:pPr marL="285750" marR="0" lvl="0" indent="-285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430" b="1" dirty="0" err="1">
                <a:latin typeface="Open Sans"/>
                <a:ea typeface="Open Sans"/>
                <a:cs typeface="Open Sans"/>
                <a:sym typeface="Open Sans"/>
              </a:rPr>
              <a:t>Arquitetura</a:t>
            </a:r>
            <a:r>
              <a:rPr lang="en-US" sz="3430" b="1" dirty="0">
                <a:latin typeface="Open Sans"/>
                <a:ea typeface="Open Sans"/>
                <a:cs typeface="Open Sans"/>
                <a:sym typeface="Open Sans"/>
              </a:rPr>
              <a:t>: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ADO.NET para 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comunicação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aplicação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com o banco de dados .</a:t>
            </a:r>
          </a:p>
          <a:p>
            <a:pPr marL="285750" marR="0" lvl="0" indent="-285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430" b="1" dirty="0" err="1">
                <a:latin typeface="Open Sans"/>
                <a:ea typeface="Open Sans"/>
                <a:cs typeface="Open Sans"/>
                <a:sym typeface="Open Sans"/>
              </a:rPr>
              <a:t>Modelagem</a:t>
            </a:r>
            <a:r>
              <a:rPr lang="en-US" sz="3430" b="1" dirty="0"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Figma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ou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Draw.io para design de interface.</a:t>
            </a:r>
          </a:p>
          <a:p>
            <a:pPr marR="0" lvl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   Todo o código será distribuído no </a:t>
            </a:r>
            <a:r>
              <a:rPr lang="pt-BR" sz="3430" dirty="0" err="1">
                <a:latin typeface="Open Sans"/>
                <a:ea typeface="Open Sans"/>
                <a:cs typeface="Open Sans"/>
                <a:sym typeface="Open Sans"/>
              </a:rPr>
              <a:t>Github</a:t>
            </a: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 para controle e colaboração.</a:t>
            </a:r>
            <a:endParaRPr lang="en-US" sz="343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6" name="Google Shape;136;p1"/>
          <p:cNvSpPr txBox="1"/>
          <p:nvPr/>
        </p:nvSpPr>
        <p:spPr>
          <a:xfrm>
            <a:off x="1695433" y="11586597"/>
            <a:ext cx="12562800" cy="6952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430" b="1" dirty="0" err="1">
                <a:latin typeface="Open Sans"/>
                <a:ea typeface="Open Sans"/>
                <a:cs typeface="Open Sans"/>
                <a:sym typeface="Open Sans"/>
              </a:rPr>
              <a:t>Descontrole</a:t>
            </a:r>
            <a:r>
              <a:rPr lang="en-US" sz="3430" b="1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30" b="1" dirty="0" err="1">
                <a:latin typeface="Open Sans"/>
                <a:ea typeface="Open Sans"/>
                <a:cs typeface="Open Sans"/>
                <a:sym typeface="Open Sans"/>
              </a:rPr>
              <a:t>acesso</a:t>
            </a:r>
            <a:r>
              <a:rPr lang="en-US" sz="3430" b="1" dirty="0">
                <a:latin typeface="Open Sans"/>
                <a:ea typeface="Open Sans"/>
                <a:cs typeface="Open Sans"/>
                <a:sym typeface="Open Sans"/>
              </a:rPr>
              <a:t>: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Inexistência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uma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ferramenta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centralizada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para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gerenciar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jogos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assinaturas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285750" marR="0" lvl="0" indent="-285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430" b="1" dirty="0" err="1">
                <a:latin typeface="Open Sans"/>
                <a:ea typeface="Open Sans"/>
                <a:cs typeface="Open Sans"/>
                <a:sym typeface="Open Sans"/>
              </a:rPr>
              <a:t>Vulnerabilidade</a:t>
            </a:r>
            <a:r>
              <a:rPr lang="en-US" sz="3430" b="1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30" b="1" dirty="0" err="1">
                <a:latin typeface="Open Sans"/>
                <a:ea typeface="Open Sans"/>
                <a:cs typeface="Open Sans"/>
                <a:sym typeface="Open Sans"/>
              </a:rPr>
              <a:t>segurança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Necessidade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 Validar o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uso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 IPs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autorizados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para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evitar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acessos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indevidos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.</a:t>
            </a:r>
          </a:p>
          <a:p>
            <a:pPr marL="285750" marR="0" lvl="0" indent="-285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430" b="1" dirty="0" err="1">
                <a:latin typeface="Open Sans"/>
                <a:ea typeface="Open Sans"/>
                <a:cs typeface="Open Sans"/>
                <a:sym typeface="Open Sans"/>
              </a:rPr>
              <a:t>Gestão</a:t>
            </a:r>
            <a:r>
              <a:rPr lang="en-US" sz="3430" b="1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30" b="1" dirty="0" err="1">
                <a:latin typeface="Open Sans"/>
                <a:ea typeface="Open Sans"/>
                <a:cs typeface="Open Sans"/>
                <a:sym typeface="Open Sans"/>
              </a:rPr>
              <a:t>limites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Dificuldade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em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monitorar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bloquear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o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uso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após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aingir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cota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mensal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contratada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285750" marR="0" lvl="0" indent="-285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430" b="1" dirty="0">
                <a:latin typeface="Open Sans"/>
                <a:ea typeface="Open Sans"/>
                <a:cs typeface="Open Sans"/>
                <a:sym typeface="Open Sans"/>
              </a:rPr>
              <a:t>Falta de dados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Ausência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relatórios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precisos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sobre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o consume de games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por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instituição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285750" marR="0" lvl="0" indent="-285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1570066" y="21125709"/>
            <a:ext cx="12562800" cy="9169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A Messier Data </a:t>
            </a:r>
            <a:r>
              <a:rPr lang="pt-BR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Creative</a:t>
            </a: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é uma empresa especializada em desenvolvimento de jogos e experiências interativa e está expandindo sua atuação para o mercado educacional com uma plataforma de jogos digitais voltada para escolas de ensino fundamental e médio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   Para isso é preciso desenvolver um aplicativo desktop que centralize a gestão de assinaturas de jogos educacionais por escolas, controlando pacotes contratados, validação por IP autorizado, limites de acessos mensais e geração de relatórios de consumo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136933" y="39681833"/>
            <a:ext cx="28242600" cy="18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5" b="1">
                <a:latin typeface="Open Sans"/>
                <a:ea typeface="Open Sans"/>
                <a:cs typeface="Open Sans"/>
                <a:sym typeface="Open Sans"/>
              </a:rPr>
              <a:t>IV </a:t>
            </a:r>
            <a:r>
              <a:rPr lang="en-US" sz="4955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SEMANA FECAP DE TECNOLOGIA - 2026</a:t>
            </a:r>
            <a:endParaRPr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  <a:endParaRPr/>
          </a:p>
        </p:txBody>
      </p:sp>
      <p:sp>
        <p:nvSpPr>
          <p:cNvPr id="139" name="Google Shape;139;p1"/>
          <p:cNvSpPr txBox="1"/>
          <p:nvPr/>
        </p:nvSpPr>
        <p:spPr>
          <a:xfrm>
            <a:off x="15617816" y="10880630"/>
            <a:ext cx="11904157" cy="18037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  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implementação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do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aplicativo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desktop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consolidou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viabilidade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técina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da Plataforma Messier Data Creative,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centralizando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ferramentas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em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C#/.NET 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proporcionando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uma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experiência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mais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fluída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instiuições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 Ensino.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430" dirty="0"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Destaque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dos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resultados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obtidos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:</a:t>
            </a:r>
          </a:p>
          <a:p>
            <a:pPr marL="285750" marR="0" lvl="0" indent="-285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430" b="1" dirty="0">
                <a:latin typeface="Open Sans"/>
                <a:ea typeface="Open Sans"/>
                <a:cs typeface="Open Sans"/>
                <a:sym typeface="Open Sans"/>
              </a:rPr>
              <a:t>Controle de </a:t>
            </a:r>
            <a:r>
              <a:rPr lang="en-US" sz="3430" b="1" dirty="0" err="1">
                <a:latin typeface="Open Sans"/>
                <a:ea typeface="Open Sans"/>
                <a:cs typeface="Open Sans"/>
                <a:sym typeface="Open Sans"/>
              </a:rPr>
              <a:t>acesso</a:t>
            </a:r>
            <a:r>
              <a:rPr lang="en-US" sz="3430" b="1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b="1" dirty="0" err="1">
                <a:latin typeface="Open Sans"/>
                <a:ea typeface="Open Sans"/>
                <a:cs typeface="Open Sans"/>
                <a:sym typeface="Open Sans"/>
              </a:rPr>
              <a:t>eficiente</a:t>
            </a:r>
            <a:r>
              <a:rPr lang="en-US" sz="3430" b="1" dirty="0"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validação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por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IP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reduziu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tentativas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 login for a do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ambiente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escolar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contratado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285750" marR="0" lvl="0" indent="-285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430" b="1" dirty="0" err="1">
                <a:latin typeface="Open Sans"/>
                <a:ea typeface="Open Sans"/>
                <a:cs typeface="Open Sans"/>
                <a:sym typeface="Open Sans"/>
              </a:rPr>
              <a:t>Gestão</a:t>
            </a:r>
            <a:r>
              <a:rPr lang="en-US" sz="3430" b="1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30" b="1" dirty="0" err="1">
                <a:latin typeface="Open Sans"/>
                <a:ea typeface="Open Sans"/>
                <a:cs typeface="Open Sans"/>
                <a:sym typeface="Open Sans"/>
              </a:rPr>
              <a:t>limites</a:t>
            </a:r>
            <a:r>
              <a:rPr lang="en-US" sz="3430" b="1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b="1" dirty="0" err="1">
                <a:latin typeface="Open Sans"/>
                <a:ea typeface="Open Sans"/>
                <a:cs typeface="Open Sans"/>
                <a:sym typeface="Open Sans"/>
              </a:rPr>
              <a:t>em</a:t>
            </a:r>
            <a:r>
              <a:rPr lang="en-US" sz="3430" b="1" dirty="0">
                <a:latin typeface="Open Sans"/>
                <a:ea typeface="Open Sans"/>
                <a:cs typeface="Open Sans"/>
                <a:sym typeface="Open Sans"/>
              </a:rPr>
              <a:t> tempo real: 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O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monitoramento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cotas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mensais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permitiu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o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bloqueio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automático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inteligente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, com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notificações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preventivas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antes do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esgotamento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franquia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acessos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285750" marR="0" lvl="0" indent="-285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430" b="1" dirty="0" err="1">
                <a:latin typeface="Open Sans"/>
                <a:ea typeface="Open Sans"/>
                <a:cs typeface="Open Sans"/>
                <a:sym typeface="Open Sans"/>
              </a:rPr>
              <a:t>Segurança</a:t>
            </a:r>
            <a:r>
              <a:rPr lang="en-US" sz="3430" b="1" dirty="0">
                <a:latin typeface="Open Sans"/>
                <a:ea typeface="Open Sans"/>
                <a:cs typeface="Open Sans"/>
                <a:sym typeface="Open Sans"/>
              </a:rPr>
              <a:t> e </a:t>
            </a:r>
            <a:r>
              <a:rPr lang="en-US" sz="3430" b="1" dirty="0" err="1">
                <a:latin typeface="Open Sans"/>
                <a:ea typeface="Open Sans"/>
                <a:cs typeface="Open Sans"/>
                <a:sym typeface="Open Sans"/>
              </a:rPr>
              <a:t>persistência</a:t>
            </a:r>
            <a:r>
              <a:rPr lang="en-US" sz="3430" b="1" dirty="0"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O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uso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do banco de dados SQLite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assegurou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integridade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das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informações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uso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localmente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mesmo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em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cenários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instabilidade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 de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conexão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 internet.</a:t>
            </a:r>
          </a:p>
          <a:p>
            <a:pPr marL="285750" marR="0" lvl="0" indent="-285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430" b="1" dirty="0" err="1">
                <a:latin typeface="Open Sans"/>
                <a:ea typeface="Open Sans"/>
                <a:cs typeface="Open Sans"/>
                <a:sym typeface="Open Sans"/>
              </a:rPr>
              <a:t>Inteligência</a:t>
            </a:r>
            <a:r>
              <a:rPr lang="en-US" sz="3430" b="1" dirty="0">
                <a:latin typeface="Open Sans"/>
                <a:ea typeface="Open Sans"/>
                <a:cs typeface="Open Sans"/>
                <a:sym typeface="Open Sans"/>
              </a:rPr>
              <a:t> de dados: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Geração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relatórios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detalhados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ofereceu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as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instituições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escolares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uma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visão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mais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clara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do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engajamento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dos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alunos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identificando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jogos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maior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impacto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pedagógico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R="0" lvl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  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solução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não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apenas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resolveu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vulnerabilidade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segurança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e 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falta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 dados, mas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também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estabeleceu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uma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infraestrutura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escalável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para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expansões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futuras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no mercado educational.</a:t>
            </a:r>
          </a:p>
          <a:p>
            <a:pPr marL="285750" marR="0" lvl="0" indent="-285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2638</TotalTime>
  <Words>519</Words>
  <Application>Microsoft Office PowerPoint</Application>
  <PresentationFormat>Custom</PresentationFormat>
  <Paragraphs>35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Open Sans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Andre Seiji Shiroma</dc:creator>
  <cp:lastModifiedBy>André   Seiji Shiroma</cp:lastModifiedBy>
  <cp:revision>2</cp:revision>
  <dcterms:created xsi:type="dcterms:W3CDTF">2006-08-16T00:00:00Z</dcterms:created>
  <dcterms:modified xsi:type="dcterms:W3CDTF">2026-05-04T20:06:46Z</dcterms:modified>
</cp:coreProperties>
</file>